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0" r:id="rId6"/>
    <p:sldId id="261" r:id="rId7"/>
    <p:sldId id="260" r:id="rId8"/>
    <p:sldId id="262" r:id="rId9"/>
    <p:sldId id="272" r:id="rId10"/>
    <p:sldId id="264" r:id="rId11"/>
    <p:sldId id="265" r:id="rId12"/>
  </p:sldIdLst>
  <p:sldSz cx="12192000" cy="6858000"/>
  <p:notesSz cx="6858000" cy="9144000"/>
  <p:embeddedFontLst>
    <p:embeddedFont>
      <p:font typeface="Inter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32514-751E-4B7D-82EA-F76972319D16}" v="21" dt="2026-09-29T07:05:41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 Gattu" userId="6a9179e6fc0bb0fe" providerId="LiveId" clId="{50CBD649-30AA-482D-9BD7-EEE8E53228D2}"/>
    <pc:docChg chg="delSld">
      <pc:chgData name="Karthikeya Gattu" userId="6a9179e6fc0bb0fe" providerId="LiveId" clId="{50CBD649-30AA-482D-9BD7-EEE8E53228D2}" dt="2026-09-29T08:55:07.083" v="1" actId="2696"/>
      <pc:docMkLst>
        <pc:docMk/>
      </pc:docMkLst>
      <pc:sldChg chg="del">
        <pc:chgData name="Karthikeya Gattu" userId="6a9179e6fc0bb0fe" providerId="LiveId" clId="{50CBD649-30AA-482D-9BD7-EEE8E53228D2}" dt="2026-09-29T08:55:01.576" v="0" actId="2696"/>
        <pc:sldMkLst>
          <pc:docMk/>
          <pc:sldMk cId="0" sldId="263"/>
        </pc:sldMkLst>
      </pc:sldChg>
      <pc:sldChg chg="del">
        <pc:chgData name="Karthikeya Gattu" userId="6a9179e6fc0bb0fe" providerId="LiveId" clId="{50CBD649-30AA-482D-9BD7-EEE8E53228D2}" dt="2026-09-29T08:55:07.083" v="1" actId="2696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B7B3A-150F-4CC0-A7A6-2E6C70FB8C7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75B6D-202C-4D53-91CE-FE7AED1CFE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9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75B6D-202C-4D53-91CE-FE7AED1CFE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7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736008"/>
            <a:ext cx="10668000" cy="1359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1740396"/>
            <a:ext cx="4572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736008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911846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Space Grotesk"/>
              </a:rPr>
              <a:t>Event-Driven Smart Surveillance &amp; Security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81387"/>
            <a:ext cx="952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94A3B8"/>
                </a:solidFill>
                <a:latin typeface="Inter"/>
              </a:rPr>
              <a:t>Using ESP32-CAM module and Multimodal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62575"/>
            <a:ext cx="2178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Space Grotesk"/>
              </a:rPr>
              <a:t>PROJECT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638800"/>
            <a:ext cx="2178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Inter"/>
              </a:rPr>
              <a:t>Mr. S. Venu Prasad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905500"/>
            <a:ext cx="2178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(Assistant Professor)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1281" y="5050333"/>
            <a:ext cx="4988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0" u="none">
                <a:solidFill>
                  <a:srgbClr val="A855F7"/>
                </a:solidFill>
                <a:latin typeface="Space Grotesk"/>
              </a:rPr>
              <a:t>BATCH NO: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3775" y="5364658"/>
            <a:ext cx="40862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A. Shiva (24P81A0401)  |  B. Sai Charan (24P81A0408)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D. Mythri (24P81A0416)  |  G. Karthikeya (24P81A0419)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K. Krishna Sri (24P81A0430)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716756"/>
            <a:ext cx="562070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The Limitations of</a:t>
            </a:r>
            <a:r>
              <a:t>
</a:t>
            </a:r>
            <a:r>
              <a:rPr sz="3000" b="1" i="0" u="none">
                <a:solidFill>
                  <a:srgbClr val="0F172A"/>
                </a:solidFill>
                <a:latin typeface="Space Grotesk"/>
              </a:rPr>
              <a:t> Traditional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12156"/>
            <a:ext cx="69008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Resource Intensive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6006"/>
            <a:ext cx="5353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Traditional systems heavily rely on continuous video streaming, wasting infrastructure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20628"/>
            <a:ext cx="69008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High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44478"/>
            <a:ext cx="5353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They require extremely high network bandwidth and extensive local or cloud storage capacities.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229100"/>
            <a:ext cx="69008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Human Fatigue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52950"/>
            <a:ext cx="5353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They necessitate constant human monitoring, which is prone to fatigue and oversight.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7571"/>
            <a:ext cx="69008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Lack of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61421"/>
            <a:ext cx="53530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Conventional systems only trigger generic alarms upon motion, without providing context regarding the actual threat.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E55AE20-8CDA-C8EA-FC92-B0FC8791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115" y="1660921"/>
            <a:ext cx="52197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690812"/>
            <a:ext cx="2286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509962"/>
            <a:ext cx="28575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586287"/>
            <a:ext cx="228600" cy="733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4600" y="1538287"/>
            <a:ext cx="5867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855F7"/>
                </a:solidFill>
                <a:latin typeface="Space Grotesk"/>
              </a:rPr>
              <a:t>INTELLIGENT, REAL-TIME THREAT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814512"/>
            <a:ext cx="5867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4050" y="3305175"/>
            <a:ext cx="32861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Space Grotesk"/>
              </a:rPr>
              <a:t>[ Project Photo Placeholder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2652712"/>
            <a:ext cx="4895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We present an event-driven, smart security hub engineered to optimize resource utilization.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8950" y="3471862"/>
            <a:ext cx="4838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architecture purposefully divides computational labor between low-power edge hardware for detection and a high-performance Python central backend for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4548187"/>
            <a:ext cx="4895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Instead of generic sirens, the system generates a natural-language security digest detailing the exact nature of the event, pushing actionable intelligence to the user.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D8DC36-0950-1369-12CF-E33733E70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04" y="989726"/>
            <a:ext cx="4630898" cy="46308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1552575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1552575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877466"/>
            <a:ext cx="2825799" cy="18838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1877466"/>
            <a:ext cx="2825799" cy="18838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1877466"/>
            <a:ext cx="2825799" cy="18838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Space Grotesk"/>
              </a:rPr>
              <a:t>Hardware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550" y="4000500"/>
            <a:ext cx="3200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ESP32-CAM (OV2640 2MP)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00" y="4362450"/>
            <a:ext cx="3532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Acts as the highly effective camera, captures, and transmits over Wi-Fi.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583" y="4000500"/>
            <a:ext cx="266283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FT232RL FTDI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362450"/>
            <a:ext cx="35322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critical programming interface utilized to upload code and establish serial communication.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826" y="4000500"/>
            <a:ext cx="276284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5V Active Alarm Buzzer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362450"/>
            <a:ext cx="3532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It responds on command from the Telegram bot for physical deterrence.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F355BD7-BDEB-5326-A8CF-D3C143C06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174" y="1866266"/>
            <a:ext cx="2825799" cy="19672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E46CCD0-253A-35A7-B646-5813B84FD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424" y="1552575"/>
            <a:ext cx="2825799" cy="22809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DFD2D77-501A-15EE-0383-DD985E4341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75" y="1755458"/>
            <a:ext cx="2900909" cy="2149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2154-BAC7-E9C3-F8A6-41014368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0F172A"/>
                </a:solidFill>
                <a:latin typeface="Space Grotesk"/>
              </a:rPr>
              <a:t>Block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8957E-4DFA-47EE-2138-4707D12AD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2900"/>
            <a:ext cx="10688320" cy="48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11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4200" y="1073803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68849" y="1146175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1217295"/>
            <a:ext cx="3454449" cy="4695825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359" y="1156335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Space Grotesk"/>
              </a:rPr>
              <a:t>Multimodal AI &amp;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1678" y="1969135"/>
            <a:ext cx="115014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YOLOv8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289" y="2223770"/>
            <a:ext cx="33417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Provides zero-latency spatial tracking. Detects humans and target objects to calculate proximity and state transitions.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300" y="1902777"/>
            <a:ext cx="302537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 err="1">
                <a:solidFill>
                  <a:srgbClr val="0F172A"/>
                </a:solidFill>
                <a:latin typeface="Space Grotesk"/>
              </a:rPr>
              <a:t>Moondream</a:t>
            </a:r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 (</a:t>
            </a:r>
            <a:r>
              <a:rPr sz="1800" b="1" i="0" u="none" dirty="0" err="1">
                <a:solidFill>
                  <a:srgbClr val="0F172A"/>
                </a:solidFill>
                <a:latin typeface="Space Grotesk"/>
              </a:rPr>
              <a:t>Ollama</a:t>
            </a:r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1114" y="2242661"/>
            <a:ext cx="33417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Lightweight 1.8B vision-language model. Processes visual frames into natural language incident digests on-device.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493" y="1988820"/>
            <a:ext cx="185023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  <a:latin typeface="Space Grotesk"/>
              </a:rPr>
              <a:t>Telegram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9124" y="2314575"/>
            <a:ext cx="3103624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/status: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Live AI summary.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9124" y="2517715"/>
            <a:ext cx="3103624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/history: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Export DB logs.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9124" y="2741175"/>
            <a:ext cx="3103624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/buzzer: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Remote hardware alarm.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124" y="2974796"/>
            <a:ext cx="3103624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/arm &amp; /disarm: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Toggle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9124" y="3177936"/>
            <a:ext cx="3103624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VQA: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Ask questions via chat.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5530098-F95E-2A53-22A2-C98EEB4A8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233" y="1273175"/>
            <a:ext cx="695032" cy="648335"/>
          </a:xfrm>
          <a:prstGeom prst="rect">
            <a:avLst/>
          </a:prstGeom>
        </p:spPr>
      </p:pic>
      <p:pic>
        <p:nvPicPr>
          <p:cNvPr id="26" name="Picture 25" descr="Telegram logo vector, Telegram icon free vector 18910740 ...">
            <a:extLst>
              <a:ext uri="{FF2B5EF4-FFF2-40B4-BE49-F238E27FC236}">
                <a16:creationId xmlns:a16="http://schemas.microsoft.com/office/drawing/2014/main" id="{4B16F375-A04C-DCE5-E074-EA028B0AE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29" y="1213862"/>
            <a:ext cx="851188" cy="851188"/>
          </a:xfrm>
          <a:prstGeom prst="rect">
            <a:avLst/>
          </a:prstGeom>
        </p:spPr>
      </p:pic>
      <p:pic>
        <p:nvPicPr>
          <p:cNvPr id="5" name="Picture 4" descr="ARDUINO Logo PNG Vector (SVG) Free Download">
            <a:extLst>
              <a:ext uri="{FF2B5EF4-FFF2-40B4-BE49-F238E27FC236}">
                <a16:creationId xmlns:a16="http://schemas.microsoft.com/office/drawing/2014/main" id="{56007604-E28E-B1FD-9ACF-2B8B84A94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802" y="3218576"/>
            <a:ext cx="932629" cy="932629"/>
          </a:xfrm>
          <a:prstGeom prst="rect">
            <a:avLst/>
          </a:prstGeom>
        </p:spPr>
      </p:pic>
      <p:pic>
        <p:nvPicPr>
          <p:cNvPr id="28" name="Picture 27" descr="3D Python Programming Language Logo 12697295 PNG">
            <a:extLst>
              <a:ext uri="{FF2B5EF4-FFF2-40B4-BE49-F238E27FC236}">
                <a16:creationId xmlns:a16="http://schemas.microsoft.com/office/drawing/2014/main" id="{8B2C2569-FD59-8543-E1C2-F058FE40B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6619" y="3392804"/>
            <a:ext cx="853441" cy="85344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12AE937-07BA-36BE-772C-7CBB2E30CB19}"/>
              </a:ext>
            </a:extLst>
          </p:cNvPr>
          <p:cNvSpPr txBox="1"/>
          <p:nvPr/>
        </p:nvSpPr>
        <p:spPr>
          <a:xfrm>
            <a:off x="1736762" y="4216731"/>
            <a:ext cx="144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Space Grotesk"/>
              </a:rPr>
              <a:t>Python 3.14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1D8AA2-E19A-765F-D9D1-B672A1020EE9}"/>
              </a:ext>
            </a:extLst>
          </p:cNvPr>
          <p:cNvSpPr txBox="1"/>
          <p:nvPr/>
        </p:nvSpPr>
        <p:spPr>
          <a:xfrm>
            <a:off x="708853" y="4518478"/>
            <a:ext cx="3454449" cy="998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IN" sz="1200" dirty="0">
                <a:solidFill>
                  <a:srgbClr val="475569"/>
                </a:solidFill>
                <a:latin typeface="Inter"/>
              </a:rPr>
              <a:t>Python is the central brain of our project: it pulls the live camera stream, runs the heavy AI models, and controls the database, Telegram alerts, and hardware buzzer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D044C-5F14-A026-5C53-E4FD9EAE895E}"/>
              </a:ext>
            </a:extLst>
          </p:cNvPr>
          <p:cNvSpPr txBox="1"/>
          <p:nvPr/>
        </p:nvSpPr>
        <p:spPr>
          <a:xfrm>
            <a:off x="5424386" y="4138986"/>
            <a:ext cx="144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0F172A"/>
                </a:solidFill>
                <a:latin typeface="Space Grotesk"/>
              </a:rPr>
              <a:t>Aurdino</a:t>
            </a:r>
            <a:r>
              <a:rPr lang="en-IN" b="1" dirty="0">
                <a:solidFill>
                  <a:srgbClr val="0F172A"/>
                </a:solidFill>
                <a:latin typeface="Space Grotesk"/>
              </a:rPr>
              <a:t> IDE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30B8AC-1700-EC97-ED25-18AF92BC3A1B}"/>
              </a:ext>
            </a:extLst>
          </p:cNvPr>
          <p:cNvSpPr txBox="1"/>
          <p:nvPr/>
        </p:nvSpPr>
        <p:spPr>
          <a:xfrm>
            <a:off x="4569509" y="4518478"/>
            <a:ext cx="316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475569"/>
                </a:solidFill>
                <a:latin typeface="Inter"/>
              </a:rPr>
              <a:t>We used the Arduino IDE to write and upload the C++ code that connects the ESP32-CAM to Wi-Fi and launches the video stream for Python</a:t>
            </a:r>
            <a:endParaRPr lang="en-IN" sz="1200" dirty="0"/>
          </a:p>
        </p:txBody>
      </p:sp>
      <p:pic>
        <p:nvPicPr>
          <p:cNvPr id="33" name="Picture 32" descr="SQLite - Wikibooks, open books for an open world">
            <a:extLst>
              <a:ext uri="{FF2B5EF4-FFF2-40B4-BE49-F238E27FC236}">
                <a16:creationId xmlns:a16="http://schemas.microsoft.com/office/drawing/2014/main" id="{17859AC6-B9AA-F265-1F1E-7F4CC97FDA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408" y="3656591"/>
            <a:ext cx="1262281" cy="59522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8F5A98-E018-C613-95D2-2FD40231EAE2}"/>
              </a:ext>
            </a:extLst>
          </p:cNvPr>
          <p:cNvSpPr txBox="1"/>
          <p:nvPr/>
        </p:nvSpPr>
        <p:spPr>
          <a:xfrm>
            <a:off x="9520954" y="4251813"/>
            <a:ext cx="85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Space Grotesk"/>
              </a:rPr>
              <a:t>SQLite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890C9-3030-13F0-435D-8AE4E50BB486}"/>
              </a:ext>
            </a:extLst>
          </p:cNvPr>
          <p:cNvSpPr txBox="1"/>
          <p:nvPr/>
        </p:nvSpPr>
        <p:spPr>
          <a:xfrm>
            <a:off x="8243199" y="4574635"/>
            <a:ext cx="3454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475569"/>
                </a:solidFill>
                <a:latin typeface="Inter"/>
              </a:rPr>
              <a:t>We use SQLite as our local database to permanently log every detected threat, its timestamp, and the AI summary, creating a secure history of all events.</a:t>
            </a:r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0175"/>
            <a:ext cx="10972800" cy="4848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0175"/>
            <a:ext cx="10972800" cy="4848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Space Grotesk"/>
              </a:rPr>
              <a:t>System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3EDB8-6C8F-D05A-954D-2E9165592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00175"/>
            <a:ext cx="10972799" cy="53063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9573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955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337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719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53101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014412"/>
            <a:ext cx="8001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Space Grotesk"/>
              </a:rPr>
              <a:t>System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19573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57387"/>
            <a:ext cx="5657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 dirty="0">
                <a:solidFill>
                  <a:srgbClr val="1E293B"/>
                </a:solidFill>
                <a:latin typeface="Inter"/>
              </a:rPr>
              <a:t>Bandwidth Efficiency:</a:t>
            </a:r>
            <a:r>
              <a:rPr sz="1500" b="0" i="0" u="none" dirty="0">
                <a:solidFill>
                  <a:srgbClr val="1E293B"/>
                </a:solidFill>
                <a:latin typeface="Inter"/>
              </a:rPr>
              <a:t> Eliminates continuous video streaming to the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27955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95587"/>
            <a:ext cx="5657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Semantic Context:</a:t>
            </a:r>
            <a:r>
              <a:rPr sz="1500" b="0" i="0" u="none">
                <a:solidFill>
                  <a:srgbClr val="1E293B"/>
                </a:solidFill>
                <a:latin typeface="Inter"/>
              </a:rPr>
              <a:t> Replaces blind motion alarms with detailed natural-language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36337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33787"/>
            <a:ext cx="5657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Data Privacy:</a:t>
            </a:r>
            <a:r>
              <a:rPr sz="1500" b="0" i="0" u="none">
                <a:solidFill>
                  <a:srgbClr val="1E293B"/>
                </a:solidFill>
                <a:latin typeface="Inter"/>
              </a:rPr>
              <a:t> 100% on-premise AI inference ensures zero sensitive data leakage.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4719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71987"/>
            <a:ext cx="5657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Hardware Cost Reduction:</a:t>
            </a:r>
            <a:r>
              <a:rPr sz="1500" b="0" i="0" u="none">
                <a:solidFill>
                  <a:srgbClr val="1E293B"/>
                </a:solidFill>
                <a:latin typeface="Inter"/>
              </a:rPr>
              <a:t> Operates on sub-$10 edge hardware modules.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725" y="53101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10187"/>
            <a:ext cx="5657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E293B"/>
                </a:solidFill>
                <a:latin typeface="Inter"/>
              </a:rPr>
              <a:t>Bidirectional Control:</a:t>
            </a:r>
            <a:r>
              <a:rPr sz="1500" b="0" i="0" u="none">
                <a:solidFill>
                  <a:srgbClr val="1E293B"/>
                </a:solidFill>
                <a:latin typeface="Inter"/>
              </a:rPr>
              <a:t> Closed-loop capability allows remote intervention, not just observation.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B6F7-79FA-DD14-1EEC-C0B46539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0F172A"/>
                </a:solidFill>
                <a:latin typeface="Space Grotesk"/>
              </a:rPr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7F0CE-95BD-6934-8420-1B906BDE2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393680" cy="452596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Multi-Node Mesh Scalability: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Expanding from a single ESP32-CAM to a synchronized, multi-camera edge network for continuous threat tracking across large facilities.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Identity &amp; Attribution: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Upgrading the neural pipeline with facial embeddings to identify exactly who abandoned a detected object.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Facility Intervention: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Interfacing the central Python hub with building infrastructure (PLCs) to automatically lock electronic doors or trigger heavy machinery shutdowns during a validated threat.</a:t>
            </a:r>
          </a:p>
        </p:txBody>
      </p:sp>
    </p:spTree>
    <p:extLst>
      <p:ext uri="{BB962C8B-B14F-4D97-AF65-F5344CB8AC3E}">
        <p14:creationId xmlns:p14="http://schemas.microsoft.com/office/powerpoint/2010/main" val="297747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24012"/>
            <a:ext cx="4572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1524000"/>
            <a:ext cx="3810000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62387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8148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872037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1079499"/>
            <a:ext cx="690086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05087"/>
            <a:ext cx="5353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The Autonomous Edge AI Security System successfully demonstrates a shift from passive observation to active, intelligent intervention.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824287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Inter"/>
              </a:rPr>
              <a:t>Proves viability of 100% on-premise, cloud-free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243387"/>
            <a:ext cx="502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Effectively mitigates network bandwidth and cloud storage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833937"/>
            <a:ext cx="502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Transforms raw pixels into actionable, conversational intelligence.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69777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2460277"/>
            <a:ext cx="47625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20753" y="3412777"/>
            <a:ext cx="3950493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9421" y="4311848"/>
            <a:ext cx="23931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Open for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648</Words>
  <Application>Microsoft Office PowerPoint</Application>
  <PresentationFormat>Widescreen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</vt:lpstr>
      <vt:lpstr>Aptos</vt:lpstr>
      <vt:lpstr>Calibri</vt:lpstr>
      <vt:lpstr>Times New Roman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Block Diagram</vt:lpstr>
      <vt:lpstr>PowerPoint Presentation</vt:lpstr>
      <vt:lpstr>PowerPoint Presentation</vt:lpstr>
      <vt:lpstr>PowerPoint Presentation</vt:lpstr>
      <vt:lpstr>Future Scope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 Gattu</dc:creator>
  <cp:keywords/>
  <dc:description>generated using python-pptx</dc:description>
  <cp:lastModifiedBy>Karthikeya Gattu</cp:lastModifiedBy>
  <cp:revision>4</cp:revision>
  <dcterms:created xsi:type="dcterms:W3CDTF">2013-01-27T09:14:16Z</dcterms:created>
  <dcterms:modified xsi:type="dcterms:W3CDTF">2026-09-29T08:55:11Z</dcterms:modified>
  <cp:category/>
</cp:coreProperties>
</file>